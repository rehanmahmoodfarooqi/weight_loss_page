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1"/>
    <p:restoredTop sz="94670"/>
  </p:normalViewPr>
  <p:slideViewPr>
    <p:cSldViewPr snapToGrid="0" snapToObjects="1">
      <p:cViewPr varScale="1">
        <p:scale>
          <a:sx n="70" d="100"/>
          <a:sy n="70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A8FEB-287E-7449-85E7-A927F7CB73B1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D4E81-1DD6-1240-8180-8C16B23C8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4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61EA4-A2BE-D441-92CE-753026655F19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4637-80F4-F549-8B0C-6224E9F49920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Science, </a:t>
            </a:r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618D-7DC8-584C-8174-F96D4691CC93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0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708-57B0-0342-989F-5540BCA7C095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1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9AC1-B86D-9743-8CA1-3710D8ED1E31}" type="datetime1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4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9076D-C1BA-D647-BCF6-96C44F48F9F4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2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3C651-28EE-3440-B784-9815FF099FA1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5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3B37-AE97-4846-97A2-3C1B43014991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2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23B9E-9D30-3A47-A187-1C7B9D5CF726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8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F74D3-80E5-C64D-8A26-ED401BD2F839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0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E373A-E430-3742-8384-5673EEF1CA2B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4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B0286-3DD1-3748-AB3E-EB895D98739F}" type="datetime1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E" sz="3600" b="1" dirty="0"/>
              <a:t>"AI-Based Dental Intelligence System for Automated Detection and Diagnosis of Dental Diseases"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22565"/>
          </a:xfrm>
        </p:spPr>
        <p:txBody>
          <a:bodyPr>
            <a:normAutofit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[Rehan Mahmood Farooqi – NUM-BSCS-2022-49]</a:t>
            </a:r>
            <a:endParaRPr lang="en-US" sz="900" dirty="0"/>
          </a:p>
          <a:p>
            <a:endParaRPr lang="en-US" sz="900" dirty="0"/>
          </a:p>
          <a:p>
            <a:r>
              <a:rPr lang="en-US" dirty="0"/>
              <a:t>Supervisor: Ammar Ahmad</a:t>
            </a:r>
          </a:p>
          <a:p>
            <a:r>
              <a:rPr lang="en-US" dirty="0"/>
              <a:t>Industrial Partner: HSA Islamabad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6FBE4-AA36-004B-8D37-8B5824306D86}" type="datetime1">
              <a:rPr lang="en-US" smtClean="0"/>
              <a:t>10/7/2025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67150" y="522328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Year Project </a:t>
            </a:r>
            <a:r>
              <a:rPr lang="mr-IN" b="1" dirty="0"/>
              <a:t>–</a:t>
            </a:r>
            <a:r>
              <a:rPr lang="en-US" b="1"/>
              <a:t> Proposal </a:t>
            </a:r>
            <a:r>
              <a:rPr lang="en-US" b="1" dirty="0"/>
              <a:t>Presentation</a:t>
            </a:r>
          </a:p>
        </p:txBody>
      </p:sp>
      <p:pic>
        <p:nvPicPr>
          <p:cNvPr id="5" name="Picture 4" descr="Namal University">
            <a:extLst>
              <a:ext uri="{FF2B5EF4-FFF2-40B4-BE49-F238E27FC236}">
                <a16:creationId xmlns:a16="http://schemas.microsoft.com/office/drawing/2014/main" id="{008743B0-C69A-85A8-A996-BADAB5A462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755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Literature Review/Background/Related Existing Products</a:t>
            </a:r>
          </a:p>
          <a:p>
            <a:r>
              <a:rPr lang="en-US" dirty="0"/>
              <a:t>Problem Statement and Objectives</a:t>
            </a:r>
          </a:p>
          <a:p>
            <a:r>
              <a:rPr lang="en-US" dirty="0"/>
              <a:t>Proposed Design Methodology/Framework/Architecture</a:t>
            </a:r>
          </a:p>
          <a:p>
            <a:r>
              <a:rPr lang="en-US" dirty="0"/>
              <a:t>Hardware/Software Tools</a:t>
            </a:r>
          </a:p>
          <a:p>
            <a:r>
              <a:rPr lang="en-US" dirty="0"/>
              <a:t>Proposed Work Plan (Gant Chart)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3777-3965-2841-879A-A4D220913375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51544" y="6369998"/>
            <a:ext cx="2743200" cy="365125"/>
          </a:xfrm>
        </p:spPr>
        <p:txBody>
          <a:bodyPr/>
          <a:lstStyle/>
          <a:p>
            <a:fld id="{3E94D9CA-177E-AF41-A87D-6A332E9A24C3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ECDCC5B-EF96-9D82-00B3-1408C792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D5D8E424-27F7-79E7-E08F-5AA966F9DD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4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Dental health</a:t>
            </a:r>
            <a:r>
              <a:rPr lang="en-US" sz="2400" dirty="0"/>
              <a:t> is an essential part of overall human well-being, influencing nutrition, speech, and confidence.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advancements in dentistry, dental diseases such as cavities, gum infections, and periodontal issues remain common worldwide.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Deep Learning (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enable automated and precise dental image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can identify patterns, detect diseases early, and support clinical decision-making.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EE4EC-B1E7-894E-A9D4-99B91EF11783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B05C6D08-073E-F63C-D28C-D7DF5EAD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5D39F3DD-87C6-ECD0-8F01-78FE81D798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9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EAC7-C56D-654E-AF87-90A8FCDDA207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758A22F-0A47-8A7F-BD1B-4A2F051F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CFF03FCA-D191-EA2C-243B-E78EF92E45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D112E521-52F4-DA1A-7E3A-AF69020498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981471"/>
            <a:ext cx="1035296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Millions of people suffer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untreated dental diseases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cavities, gum infections, and oral lesions.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diagnosis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critical to prevent complications, pain, and expensive treatments.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diagnostic methods rely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X-ray and image inspection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dentists.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Subjective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 accessibility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/>
              <a:t>There is a </a:t>
            </a:r>
            <a:r>
              <a:rPr lang="en-US" sz="2000" b="1" dirty="0"/>
              <a:t>need for an intelligent, automated, and standardized diagnostic system</a:t>
            </a:r>
            <a:r>
              <a:rPr lang="en-US" sz="2000" dirty="0"/>
              <a:t> to assist dentists in accurate and efficient disease detection.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9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Literature Review/Background/Related Existing Products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1934A53-0144-254B-A974-9FAC8DA1B0E3}" type="datetime1">
              <a:rPr lang="en-US" smtClean="0"/>
              <a:pPr>
                <a:spcAft>
                  <a:spcPts val="600"/>
                </a:spcAft>
              </a:pPr>
              <a:t>10/7/2025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8A84164-CAA3-2B7C-17C5-124EF1E9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Department of Computer Science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err="1"/>
              <a:t>Namal</a:t>
            </a:r>
            <a:r>
              <a:rPr lang="en-US" sz="700"/>
              <a:t> University, </a:t>
            </a:r>
            <a:r>
              <a:rPr lang="en-US" sz="700" err="1"/>
              <a:t>Mianwali</a:t>
            </a:r>
            <a:endParaRPr lang="en-US" sz="7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94D9CA-177E-AF41-A87D-6A332E9A24C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5383ED9A-6519-931B-DBFB-B02553974C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0433281-6EB4-59DD-6749-32FC18D5F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4919180"/>
              </p:ext>
            </p:extLst>
          </p:nvPr>
        </p:nvGraphicFramePr>
        <p:xfrm>
          <a:off x="838200" y="1764460"/>
          <a:ext cx="10680032" cy="4299456"/>
        </p:xfrm>
        <a:graphic>
          <a:graphicData uri="http://schemas.openxmlformats.org/drawingml/2006/table">
            <a:tbl>
              <a:tblPr/>
              <a:tblGrid>
                <a:gridCol w="1639200">
                  <a:extLst>
                    <a:ext uri="{9D8B030D-6E8A-4147-A177-3AD203B41FA5}">
                      <a16:colId xmlns:a16="http://schemas.microsoft.com/office/drawing/2014/main" val="2963866117"/>
                    </a:ext>
                  </a:extLst>
                </a:gridCol>
                <a:gridCol w="2032474">
                  <a:extLst>
                    <a:ext uri="{9D8B030D-6E8A-4147-A177-3AD203B41FA5}">
                      <a16:colId xmlns:a16="http://schemas.microsoft.com/office/drawing/2014/main" val="4086026368"/>
                    </a:ext>
                  </a:extLst>
                </a:gridCol>
                <a:gridCol w="2063199">
                  <a:extLst>
                    <a:ext uri="{9D8B030D-6E8A-4147-A177-3AD203B41FA5}">
                      <a16:colId xmlns:a16="http://schemas.microsoft.com/office/drawing/2014/main" val="613293663"/>
                    </a:ext>
                  </a:extLst>
                </a:gridCol>
                <a:gridCol w="4945159">
                  <a:extLst>
                    <a:ext uri="{9D8B030D-6E8A-4147-A177-3AD203B41FA5}">
                      <a16:colId xmlns:a16="http://schemas.microsoft.com/office/drawing/2014/main" val="514831421"/>
                    </a:ext>
                  </a:extLst>
                </a:gridCol>
              </a:tblGrid>
              <a:tr h="3542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Author(s) / Year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Focus Area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Model / Technique Used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Key Contribution / Findings</a:t>
                      </a:r>
                      <a:endParaRPr lang="en-US" sz="1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756445"/>
                  </a:ext>
                </a:extLst>
              </a:tr>
              <a:tr h="837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Suvarna Bhat et al. (2023)</a:t>
                      </a:r>
                      <a:r>
                        <a:rPr lang="en-US" sz="13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Comprehensive survey of deep learning in dental radiograph analysis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CNN, ResNet, Transformer-based architectures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effectLst/>
                          <a:latin typeface="Arial" panose="020B0604020202020204" pitchFamily="34" charset="0"/>
                        </a:rPr>
                        <a:t>Highlighted that deep learning models outperform traditional diagnostic methods in accuracy and efficiency.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99355"/>
                  </a:ext>
                </a:extLst>
              </a:tr>
              <a:tr h="5958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i="0" u="none" strike="noStrike" dirty="0">
                          <a:effectLst/>
                          <a:latin typeface="Arial" panose="020B0604020202020204" pitchFamily="34" charset="0"/>
                        </a:rPr>
                        <a:t>Man Hung et al. (2024)</a:t>
                      </a:r>
                      <a:r>
                        <a:rPr lang="da-DK" sz="13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Dental caries detection from panoramic imaging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Deep CNN models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Demonstrated that CNN-based models achieve high diagnostic accuracy compared to manual diagnosis.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634633"/>
                  </a:ext>
                </a:extLst>
              </a:tr>
              <a:tr h="837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 i="0" u="none" strike="noStrike" dirty="0">
                          <a:effectLst/>
                          <a:latin typeface="Arial" panose="020B0604020202020204" pitchFamily="34" charset="0"/>
                        </a:rPr>
                        <a:t>Nader Nabil et al. (2025)</a:t>
                      </a:r>
                      <a:r>
                        <a:rPr lang="en-US" sz="13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Periodontal bone loss detection using AI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Two-stage AI framework (Segmentation + Classification)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effectLst/>
                          <a:latin typeface="Arial" panose="020B0604020202020204" pitchFamily="34" charset="0"/>
                        </a:rPr>
                        <a:t>Proposed a robust AI-based method for precise detection of bone loss and periodontal disease.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314060"/>
                  </a:ext>
                </a:extLst>
              </a:tr>
              <a:tr h="837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i="0" u="none" strike="noStrike" dirty="0">
                          <a:effectLst/>
                          <a:latin typeface="Arial" panose="020B0604020202020204" pitchFamily="34" charset="0"/>
                        </a:rPr>
                        <a:t>Hasnain et al. (2024)</a:t>
                      </a:r>
                      <a:r>
                        <a:rPr lang="da-DK" sz="13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300" b="0" i="0" u="none" strike="noStrike">
                          <a:effectLst/>
                          <a:latin typeface="Arial" panose="020B0604020202020204" pitchFamily="34" charset="0"/>
                        </a:rPr>
                        <a:t>Multi-disease classification in dental diagnosis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Hybrid Deep Learning Architecture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Developed a model that can classify multiple dental diseases simultaneously with high accuracy.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4619307"/>
                  </a:ext>
                </a:extLst>
              </a:tr>
              <a:tr h="837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300" b="1" i="0" u="none" strike="noStrike" dirty="0">
                          <a:effectLst/>
                          <a:latin typeface="Arial" panose="020B0604020202020204" pitchFamily="34" charset="0"/>
                        </a:rPr>
                        <a:t>Yassir Almalki et al. (2023)</a:t>
                      </a:r>
                      <a:r>
                        <a:rPr lang="da-DK" sz="13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Dental disease classification using OPG X-rays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>
                          <a:effectLst/>
                          <a:latin typeface="Arial" panose="020B0604020202020204" pitchFamily="34" charset="0"/>
                        </a:rPr>
                        <a:t>CNN-based architectures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0" i="0" u="none" strike="noStrike" dirty="0">
                          <a:effectLst/>
                          <a:latin typeface="Arial" panose="020B0604020202020204" pitchFamily="34" charset="0"/>
                        </a:rPr>
                        <a:t>Achieved strong performance in detecting and classifying various dental conditions using Orthopantomography images.</a:t>
                      </a:r>
                    </a:p>
                  </a:txBody>
                  <a:tcPr marL="64005" marR="64005" marT="32002" marB="320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0457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358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Design Methodology/Framework/Architecture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Goal:</a:t>
            </a:r>
            <a:r>
              <a:rPr lang="en-US" sz="2000" dirty="0"/>
              <a:t> Build an AI system to detect &amp; classify dental diseases from X-rays, intraoral photos, and CBCT.</a:t>
            </a:r>
          </a:p>
          <a:p>
            <a:pPr marL="0" indent="0">
              <a:buNone/>
            </a:pPr>
            <a:r>
              <a:rPr lang="en-US" sz="2000" dirty="0"/>
              <a:t>Image input → Preprocessing → Model training (multiple architectures) → Evaluation &amp; selection → Explainability → Deployment</a:t>
            </a:r>
          </a:p>
          <a:p>
            <a:pPr marL="0" indent="0">
              <a:buNone/>
            </a:pPr>
            <a:endParaRPr lang="en-US" sz="2000" dirty="0"/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&amp; Ingestion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/>
              <a:t>Accept dental X-rays, intraoral images, CBCT; standardize formats and sizes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fr-FR" sz="2000" dirty="0"/>
              <a:t>Noise </a:t>
            </a:r>
            <a:r>
              <a:rPr lang="fr-FR" sz="2000" dirty="0" err="1"/>
              <a:t>reduction</a:t>
            </a:r>
            <a:r>
              <a:rPr lang="fr-FR" sz="2000" dirty="0"/>
              <a:t>, </a:t>
            </a:r>
            <a:r>
              <a:rPr lang="fr-FR" sz="2000" dirty="0" err="1"/>
              <a:t>contrast</a:t>
            </a:r>
            <a:r>
              <a:rPr lang="fr-FR" sz="2000" dirty="0"/>
              <a:t> </a:t>
            </a:r>
            <a:r>
              <a:rPr lang="fr-FR" sz="2000" dirty="0" err="1"/>
              <a:t>enhancement</a:t>
            </a:r>
            <a:r>
              <a:rPr lang="fr-FR" sz="2000" dirty="0"/>
              <a:t> (CLAHE), </a:t>
            </a:r>
            <a:r>
              <a:rPr lang="fr-FR" sz="2000" dirty="0" err="1"/>
              <a:t>normalization</a:t>
            </a:r>
            <a:r>
              <a:rPr lang="fr-FR" sz="2000" dirty="0"/>
              <a:t>, ROI extraction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/>
              <a:t>Classification &amp; detection options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000" b="1" dirty="0"/>
              <a:t>Model Evaluation : </a:t>
            </a:r>
            <a:r>
              <a:rPr lang="en-US" sz="2000" dirty="0"/>
              <a:t>Accuracy, Precision, Recall, F1-score.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000" dirty="0"/>
              <a:t>Grad-CAM, Attention </a:t>
            </a:r>
            <a:r>
              <a:rPr lang="en-US" sz="2000" dirty="0" err="1"/>
              <a:t>Visualiztions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Post-processing &amp; Reporting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/>
              <a:t>Confidence scoring, bounding boxes/heatmaps, auto-generated summary report </a:t>
            </a:r>
          </a:p>
          <a:p>
            <a:endParaRPr lang="en-US" sz="2000" dirty="0"/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D2E0-F1CC-9549-ACFC-356B7E30C3AC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B955B43-531E-A6AC-D1FB-55778031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66CDE76A-0B78-DC68-A42A-B8D05BBF1A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4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A4A06B-87B6-9DA3-3E2B-AA127635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7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C33C651-28EE-3440-B784-9815FF099FA1}" type="datetime1">
              <a:rPr lang="en-US" smtClean="0"/>
              <a:pPr>
                <a:spcAft>
                  <a:spcPts val="600"/>
                </a:spcAft>
              </a:pPr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5F38D-413E-24A9-1292-D5A22D1E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/>
              <a:t>Department of Computer Science &amp; Engineering, HITEC University, Taxila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94FD9-AB0E-9202-8462-94F89B42E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94D9CA-177E-AF41-A87D-6A332E9A24C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diagram of a software&#10;&#10;AI-generated content may be incorrect.">
            <a:extLst>
              <a:ext uri="{FF2B5EF4-FFF2-40B4-BE49-F238E27FC236}">
                <a16:creationId xmlns:a16="http://schemas.microsoft.com/office/drawing/2014/main" id="{CB62A809-BFF3-4E48-A314-0E5AAD6B6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833" y="-4157"/>
            <a:ext cx="9290332" cy="6850402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amal University">
            <a:extLst>
              <a:ext uri="{FF2B5EF4-FFF2-40B4-BE49-F238E27FC236}">
                <a16:creationId xmlns:a16="http://schemas.microsoft.com/office/drawing/2014/main" id="{8C142E64-5332-7BF6-C823-5AA8CD78C1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292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666" y="146808"/>
            <a:ext cx="10515600" cy="1325563"/>
          </a:xfrm>
        </p:spPr>
        <p:txBody>
          <a:bodyPr/>
          <a:lstStyle/>
          <a:p>
            <a:r>
              <a:rPr lang="en-US" dirty="0"/>
              <a:t>Software Tools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ECD4555-D75D-523C-1641-E76A2836FE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5876127"/>
              </p:ext>
            </p:extLst>
          </p:nvPr>
        </p:nvGraphicFramePr>
        <p:xfrm>
          <a:off x="436728" y="1364778"/>
          <a:ext cx="11204811" cy="4937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4937">
                  <a:extLst>
                    <a:ext uri="{9D8B030D-6E8A-4147-A177-3AD203B41FA5}">
                      <a16:colId xmlns:a16="http://schemas.microsoft.com/office/drawing/2014/main" val="1052736641"/>
                    </a:ext>
                  </a:extLst>
                </a:gridCol>
                <a:gridCol w="3734937">
                  <a:extLst>
                    <a:ext uri="{9D8B030D-6E8A-4147-A177-3AD203B41FA5}">
                      <a16:colId xmlns:a16="http://schemas.microsoft.com/office/drawing/2014/main" val="2793663348"/>
                    </a:ext>
                  </a:extLst>
                </a:gridCol>
                <a:gridCol w="3734937">
                  <a:extLst>
                    <a:ext uri="{9D8B030D-6E8A-4147-A177-3AD203B41FA5}">
                      <a16:colId xmlns:a16="http://schemas.microsoft.com/office/drawing/2014/main" val="3757830354"/>
                    </a:ext>
                  </a:extLst>
                </a:gridCol>
              </a:tblGrid>
              <a:tr h="340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Software Tool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 / Use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Why Chosen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481612"/>
                  </a:ext>
                </a:extLst>
              </a:tr>
              <a:tr h="70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programming language for AI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Rich ecosystem for ML &amp; DL, flexible, strong community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25983"/>
                  </a:ext>
                </a:extLst>
              </a:tr>
              <a:tr h="850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TensorFlow / </a:t>
                      </a:r>
                      <a:r>
                        <a:rPr lang="en-US" dirty="0" err="1"/>
                        <a:t>PyTorch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Building, training, and comparing deep learning models (CNN, ResNet, YOLOv8, ViT)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Supports various architectures, pre-trained models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894683"/>
                  </a:ext>
                </a:extLst>
              </a:tr>
              <a:tr h="70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OpenCV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preprocessing (noise removal, enhancement, normalization)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Efficient image processing and computer vision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421403"/>
                  </a:ext>
                </a:extLst>
              </a:tr>
              <a:tr h="850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scikit-learn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Performance metrics and model evaluation (accuracy, precision, recall, F1-score)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Easy-to-use, widely adopted, integrates with ML pipelines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67135"/>
                  </a:ext>
                </a:extLst>
              </a:tr>
              <a:tr h="595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Flask / Streamlit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Web-based interface for model deployment and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Simple, fast deployment, enables real-time interaction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2166070"/>
                  </a:ext>
                </a:extLst>
              </a:tr>
              <a:tr h="700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Google Colab / Jupyter 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Training models with GPU acceleration and experimentation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free/paid GPU, interactive coding environment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501114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E2CB-5621-EF4A-BBC4-B5DA3670144C}" type="datetime1">
              <a:rPr lang="en-US" smtClean="0"/>
              <a:t>10/7/2025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EC97B6A-EF8F-88F6-1941-0A9E5A3F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F1D6C988-5A60-5C81-7676-79F37D7779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865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Work Plan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6CE0714-EB9D-0BBE-CECE-5DC8FB3041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444965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040561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93751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Activity</a:t>
                      </a:r>
                      <a:endParaRPr 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Tentative Date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712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Literature Review &amp; Problem Understanding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Oct – Nov 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299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 Collection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Nov – Dec 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138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 Development &amp;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 2025 – Feb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2421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Comparative Analysis &amp; Model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Feb – Mar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944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Integration &amp;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 – Apr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7959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Apr – May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23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Documentation &amp; Final Report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May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53760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C496-A90C-CA45-9662-9B7198DD1AAF}" type="datetime1">
              <a:rPr lang="en-US" smtClean="0"/>
              <a:t>10/7/2025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C99946C1-833D-FF52-52DD-359D207E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D8CF5B99-C4D7-0D71-F622-FFCB58AEE8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1235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229F0-3CB1-0D5C-7AAE-370B2049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3C651-28EE-3440-B784-9815FF099FA1}" type="datetime1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7B634-2A2B-D886-150A-585629792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HITEC University, Taxila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57BCA-CA2C-3726-07BF-CF54FA79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Namal University">
            <a:extLst>
              <a:ext uri="{FF2B5EF4-FFF2-40B4-BE49-F238E27FC236}">
                <a16:creationId xmlns:a16="http://schemas.microsoft.com/office/drawing/2014/main" id="{237E9576-237F-5F37-2EB0-B5A899C43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38312B-79E0-D878-F917-2621642C163E}"/>
              </a:ext>
            </a:extLst>
          </p:cNvPr>
          <p:cNvSpPr txBox="1"/>
          <p:nvPr/>
        </p:nvSpPr>
        <p:spPr>
          <a:xfrm>
            <a:off x="1218063" y="449586"/>
            <a:ext cx="60937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Gantt Chart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03926ED-6A49-EAEE-4669-41AEB38B20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087432"/>
              </p:ext>
            </p:extLst>
          </p:nvPr>
        </p:nvGraphicFramePr>
        <p:xfrm>
          <a:off x="838200" y="1270658"/>
          <a:ext cx="10515601" cy="4791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8007">
                  <a:extLst>
                    <a:ext uri="{9D8B030D-6E8A-4147-A177-3AD203B41FA5}">
                      <a16:colId xmlns:a16="http://schemas.microsoft.com/office/drawing/2014/main" val="3979143105"/>
                    </a:ext>
                  </a:extLst>
                </a:gridCol>
                <a:gridCol w="794555">
                  <a:extLst>
                    <a:ext uri="{9D8B030D-6E8A-4147-A177-3AD203B41FA5}">
                      <a16:colId xmlns:a16="http://schemas.microsoft.com/office/drawing/2014/main" val="2317427034"/>
                    </a:ext>
                  </a:extLst>
                </a:gridCol>
                <a:gridCol w="812212">
                  <a:extLst>
                    <a:ext uri="{9D8B030D-6E8A-4147-A177-3AD203B41FA5}">
                      <a16:colId xmlns:a16="http://schemas.microsoft.com/office/drawing/2014/main" val="1029993058"/>
                    </a:ext>
                  </a:extLst>
                </a:gridCol>
                <a:gridCol w="847527">
                  <a:extLst>
                    <a:ext uri="{9D8B030D-6E8A-4147-A177-3AD203B41FA5}">
                      <a16:colId xmlns:a16="http://schemas.microsoft.com/office/drawing/2014/main" val="3763812679"/>
                    </a:ext>
                  </a:extLst>
                </a:gridCol>
                <a:gridCol w="971124">
                  <a:extLst>
                    <a:ext uri="{9D8B030D-6E8A-4147-A177-3AD203B41FA5}">
                      <a16:colId xmlns:a16="http://schemas.microsoft.com/office/drawing/2014/main" val="1503424583"/>
                    </a:ext>
                  </a:extLst>
                </a:gridCol>
                <a:gridCol w="900497">
                  <a:extLst>
                    <a:ext uri="{9D8B030D-6E8A-4147-A177-3AD203B41FA5}">
                      <a16:colId xmlns:a16="http://schemas.microsoft.com/office/drawing/2014/main" val="192262526"/>
                    </a:ext>
                  </a:extLst>
                </a:gridCol>
                <a:gridCol w="882839">
                  <a:extLst>
                    <a:ext uri="{9D8B030D-6E8A-4147-A177-3AD203B41FA5}">
                      <a16:colId xmlns:a16="http://schemas.microsoft.com/office/drawing/2014/main" val="4017771430"/>
                    </a:ext>
                  </a:extLst>
                </a:gridCol>
                <a:gridCol w="900497">
                  <a:extLst>
                    <a:ext uri="{9D8B030D-6E8A-4147-A177-3AD203B41FA5}">
                      <a16:colId xmlns:a16="http://schemas.microsoft.com/office/drawing/2014/main" val="3964243814"/>
                    </a:ext>
                  </a:extLst>
                </a:gridCol>
                <a:gridCol w="908343">
                  <a:extLst>
                    <a:ext uri="{9D8B030D-6E8A-4147-A177-3AD203B41FA5}">
                      <a16:colId xmlns:a16="http://schemas.microsoft.com/office/drawing/2014/main" val="1499544840"/>
                    </a:ext>
                  </a:extLst>
                </a:gridCol>
              </a:tblGrid>
              <a:tr h="827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Task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Oct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Nov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Jan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Feb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Apr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May 2026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3145"/>
                  </a:ext>
                </a:extLst>
              </a:tr>
              <a:tr h="579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Literature Review &amp; Problem Understanding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486781"/>
                  </a:ext>
                </a:extLst>
              </a:tr>
              <a:tr h="579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 Collection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085942"/>
                  </a:ext>
                </a:extLst>
              </a:tr>
              <a:tr h="579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 Development &amp;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550540"/>
                  </a:ext>
                </a:extLst>
              </a:tr>
              <a:tr h="579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Comparative Analysis &amp;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124724"/>
                  </a:ext>
                </a:extLst>
              </a:tr>
              <a:tr h="579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Integration &amp;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30147"/>
                  </a:ext>
                </a:extLst>
              </a:tr>
              <a:tr h="335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8283349"/>
                  </a:ext>
                </a:extLst>
              </a:tr>
              <a:tr h="579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Documentation &amp; Final Report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3711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952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21D0-4650-9449-9D0F-A7358F855562}" type="datetime1">
              <a:rPr lang="en-US" smtClean="0"/>
              <a:t>10/7/2025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44755" y="2605507"/>
            <a:ext cx="23024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+mj-lt"/>
              </a:rPr>
              <a:t>Thank You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381C38D-F509-D180-A71D-F70F6CAC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pic>
        <p:nvPicPr>
          <p:cNvPr id="6" name="Picture 5" descr="Namal University">
            <a:extLst>
              <a:ext uri="{FF2B5EF4-FFF2-40B4-BE49-F238E27FC236}">
                <a16:creationId xmlns:a16="http://schemas.microsoft.com/office/drawing/2014/main" id="{CE2D4157-92D2-C494-6F10-AB37CAC532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165" y="11755"/>
            <a:ext cx="1207272" cy="12072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430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918</Words>
  <Application>Microsoft Office PowerPoint</Application>
  <PresentationFormat>Widescreen</PresentationFormat>
  <Paragraphs>188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"AI-Based Dental Intelligence System for Automated Detection and Diagnosis of Dental Diseases"</vt:lpstr>
      <vt:lpstr>Outline</vt:lpstr>
      <vt:lpstr>Introduction</vt:lpstr>
      <vt:lpstr>Problem Statement</vt:lpstr>
      <vt:lpstr>Literature Review/Background/Related Existing Products</vt:lpstr>
      <vt:lpstr>Proposed Design Methodology/Framework/Architecture</vt:lpstr>
      <vt:lpstr>PowerPoint Presentation</vt:lpstr>
      <vt:lpstr>Software Tools</vt:lpstr>
      <vt:lpstr>Proposed Work Plan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creator>Muhammad Shahzad Arif</dc:creator>
  <cp:lastModifiedBy>bscs22f49</cp:lastModifiedBy>
  <cp:revision>55</cp:revision>
  <dcterms:created xsi:type="dcterms:W3CDTF">2016-07-14T13:09:07Z</dcterms:created>
  <dcterms:modified xsi:type="dcterms:W3CDTF">2025-10-07T18:19:57Z</dcterms:modified>
</cp:coreProperties>
</file>